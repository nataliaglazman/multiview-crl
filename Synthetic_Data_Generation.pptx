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097280"/>
            <a:ext cx="7680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Synthetic 3D Brain MRI Generation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731520" y="210312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i="1" dirty="0">
                <a:solidFill>
                  <a:srgbClr val="2E86A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for Disentanglement Validation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731520" y="2971800"/>
            <a:ext cx="3200400" cy="0"/>
          </a:xfrm>
          <a:prstGeom prst="line">
            <a:avLst/>
          </a:prstGeom>
          <a:noFill/>
          <a:ln w="25400">
            <a:solidFill>
              <a:srgbClr val="2E86A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3246120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procedural rendering pipeline with known ground-truth latents</a:t>
            </a:r>
            <a:endParaRPr lang="en-US" sz="14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validating content/style disentanglement in multiview models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" y="44348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Multiview Contrastive Representation Learning  |  Paired T1 / FLAIR Brain MRI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9144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Motivation &amp; Overview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393192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97280"/>
            <a:ext cx="64008" cy="1828800"/>
          </a:xfrm>
          <a:prstGeom prst="rect">
            <a:avLst/>
          </a:prstGeom>
          <a:solidFill>
            <a:srgbClr val="A23B72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2344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A23B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Problem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77240" y="1645920"/>
            <a:ext cx="3474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brain MRI lacks ground-truth disentangled latents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Cannot directly measure if content (anatomy) is separated from style (contrast)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 quantitative validation of recovery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754880" y="1097280"/>
            <a:ext cx="393192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54880" y="1097280"/>
            <a:ext cx="64008" cy="1828800"/>
          </a:xfrm>
          <a:prstGeom prst="rect">
            <a:avLst/>
          </a:prstGeom>
          <a:solidFill>
            <a:srgbClr val="12828C"/>
          </a:solidFill>
          <a:ln/>
        </p:spPr>
      </p:sp>
      <p:sp>
        <p:nvSpPr>
          <p:cNvPr id="10" name="Text 8"/>
          <p:cNvSpPr/>
          <p:nvPr/>
        </p:nvSpPr>
        <p:spPr>
          <a:xfrm>
            <a:off x="5074920" y="12344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828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Our Approach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074920" y="1645920"/>
            <a:ext cx="3474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Procedural pseudo-MRI renderer with known latent codes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Generates paired T1 and FLAIR 3D volumes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anatomy, independent contrast per view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02920" y="3246120"/>
            <a:ext cx="182880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02920" y="333756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E86A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64³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502920" y="384048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voxel resolution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(configurable)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606040" y="3246120"/>
            <a:ext cx="182880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2606040" y="333756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2828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1000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2606040" y="384048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samples per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(default)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709160" y="3246120"/>
            <a:ext cx="182880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709160" y="333756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A23B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800" dirty="0"/>
          </a:p>
        </p:txBody>
      </p:sp>
      <p:sp>
        <p:nvSpPr>
          <p:cNvPr id="20" name="Text 18"/>
          <p:cNvSpPr/>
          <p:nvPr/>
        </p:nvSpPr>
        <p:spPr>
          <a:xfrm>
            <a:off x="4709160" y="384048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paired views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T1 + FLAIR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812280" y="3246120"/>
            <a:ext cx="182880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6812280" y="333756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12+</a:t>
            </a:r>
            <a:endParaRPr lang="en-US" sz="2800" dirty="0"/>
          </a:p>
        </p:txBody>
      </p:sp>
      <p:sp>
        <p:nvSpPr>
          <p:cNvPr id="23" name="Text 21"/>
          <p:cNvSpPr/>
          <p:nvPr/>
        </p:nvSpPr>
        <p:spPr>
          <a:xfrm>
            <a:off x="6812280" y="384048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ground-truth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latent dimensions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9144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Latent Variable Structure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3931920" cy="3566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51560"/>
            <a:ext cx="3931920" cy="411480"/>
          </a:xfrm>
          <a:prstGeom prst="rect">
            <a:avLst/>
          </a:prstGeom>
          <a:solidFill>
            <a:srgbClr val="12828C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078992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Latents  (shared across views)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85800" y="1554480"/>
            <a:ext cx="35661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z[0]  Brain size (WM radius)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z[1]  Ventricle size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z[2:5]  Lesion position (x, y, z)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z[5]  Cortical thickness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z[6]  Temporal-lobe atrophy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z[7]  Left–right asymmetry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z[8]  Sulcal widening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85800" y="3520440"/>
            <a:ext cx="3474720" cy="18288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9" name="Text 7"/>
          <p:cNvSpPr/>
          <p:nvPr/>
        </p:nvSpPr>
        <p:spPr>
          <a:xfrm>
            <a:off x="685800" y="361188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282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Spatial content fields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85800" y="3886200"/>
            <a:ext cx="3474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z_deformation  (4³ grid → gyral pattern)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z_fissure  (8³ grid → longitudinal fissure)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754880" y="1051560"/>
            <a:ext cx="3931920" cy="2194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54880" y="1051560"/>
            <a:ext cx="3931920" cy="411480"/>
          </a:xfrm>
          <a:prstGeom prst="rect">
            <a:avLst/>
          </a:prstGeom>
          <a:solidFill>
            <a:srgbClr val="A23B72"/>
          </a:solidFill>
          <a:ln/>
        </p:spPr>
      </p:sp>
      <p:sp>
        <p:nvSpPr>
          <p:cNvPr id="13" name="Text 11"/>
          <p:cNvSpPr/>
          <p:nvPr/>
        </p:nvSpPr>
        <p:spPr>
          <a:xfrm>
            <a:off x="4937760" y="1078992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Style Latents  (independent per view)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983480" y="1554480"/>
            <a:ext cx="3474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z_style[0]  Intensity gain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z_style[1]  Intensity bias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z_style[2]  Noise sigma (σ)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983480" y="251460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Sampled independently for T1 and FLAIR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754880" y="3520440"/>
            <a:ext cx="3931920" cy="1097280"/>
          </a:xfrm>
          <a:prstGeom prst="rect">
            <a:avLst/>
          </a:prstGeom>
          <a:solidFill>
            <a:srgbClr val="1B2A4A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983480" y="361188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Design Principle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983480" y="3931920"/>
            <a:ext cx="3474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latents define the shared tissue structure.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Style latents modulate how that structure appears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each imaging modality.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9144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Stage 1: Structure Rendering  (Shared)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9601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282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render_structure(z_content, z_deformation, z_fissure)  →  tissue_map + lesion_mask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1920240" cy="1234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508760"/>
            <a:ext cx="274320" cy="274320"/>
          </a:xfrm>
          <a:prstGeom prst="ellipse">
            <a:avLst/>
          </a:prstGeom>
          <a:solidFill>
            <a:srgbClr val="F2C57C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5087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914400" y="150876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Brain Shell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66928" y="1856232"/>
            <a:ext cx="170078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Ellipsoidal WM core (radius from z[0])</a:t>
            </a:r>
            <a:endParaRPr lang="en-US" sz="9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GM shell (thickness from z[5])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560320" y="1417320"/>
            <a:ext cx="1920240" cy="1234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651760" y="1508760"/>
            <a:ext cx="274320" cy="274320"/>
          </a:xfrm>
          <a:prstGeom prst="ellipse">
            <a:avLst/>
          </a:prstGeom>
          <a:solidFill>
            <a:srgbClr val="7EC8E3"/>
          </a:solidFill>
          <a:ln/>
        </p:spPr>
      </p:sp>
      <p:sp>
        <p:nvSpPr>
          <p:cNvPr id="12" name="Text 10"/>
          <p:cNvSpPr/>
          <p:nvPr/>
        </p:nvSpPr>
        <p:spPr>
          <a:xfrm>
            <a:off x="2651760" y="15087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017520" y="150876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Ventricles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670048" y="1856232"/>
            <a:ext cx="170078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CSF cavity with lateral split</a:t>
            </a:r>
            <a:endParaRPr lang="en-US" sz="9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(size controlled by z[1])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663440" y="1417320"/>
            <a:ext cx="1920240" cy="1234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754880" y="1508760"/>
            <a:ext cx="274320" cy="274320"/>
          </a:xfrm>
          <a:prstGeom prst="ellipse">
            <a:avLst/>
          </a:prstGeom>
          <a:solidFill>
            <a:srgbClr val="E8917A"/>
          </a:solidFill>
          <a:ln/>
        </p:spPr>
      </p:sp>
      <p:sp>
        <p:nvSpPr>
          <p:cNvPr id="17" name="Text 15"/>
          <p:cNvSpPr/>
          <p:nvPr/>
        </p:nvSpPr>
        <p:spPr>
          <a:xfrm>
            <a:off x="4754880" y="15087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120640" y="150876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Cortical Deformation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773168" y="1856232"/>
            <a:ext cx="170078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z_deformation (4³) upsampled</a:t>
            </a:r>
            <a:endParaRPr lang="en-US" sz="9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applied to distance field</a:t>
            </a:r>
            <a:endParaRPr lang="en-US" sz="9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gyral folding pattern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6766560" y="1417320"/>
            <a:ext cx="1920240" cy="1234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858000" y="1508760"/>
            <a:ext cx="274320" cy="274320"/>
          </a:xfrm>
          <a:prstGeom prst="ellipse">
            <a:avLst/>
          </a:prstGeom>
          <a:solidFill>
            <a:srgbClr val="A23B72"/>
          </a:solidFill>
          <a:ln/>
        </p:spPr>
      </p:sp>
      <p:sp>
        <p:nvSpPr>
          <p:cNvPr id="22" name="Text 20"/>
          <p:cNvSpPr/>
          <p:nvPr/>
        </p:nvSpPr>
        <p:spPr>
          <a:xfrm>
            <a:off x="6858000" y="15087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7223760" y="150876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Temporal Atrophy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876288" y="1856232"/>
            <a:ext cx="170078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Shrinks inferior-posterior lobe</a:t>
            </a:r>
            <a:endParaRPr lang="en-US" sz="9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(z[6]) — hippocampal volume proxy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57200" y="2834640"/>
            <a:ext cx="1920240" cy="1234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548640" y="2926080"/>
            <a:ext cx="274320" cy="274320"/>
          </a:xfrm>
          <a:prstGeom prst="ellipse">
            <a:avLst/>
          </a:prstGeom>
          <a:solidFill>
            <a:srgbClr val="2E86AB"/>
          </a:solidFill>
          <a:ln/>
        </p:spPr>
      </p:sp>
      <p:sp>
        <p:nvSpPr>
          <p:cNvPr id="27" name="Text 25"/>
          <p:cNvSpPr/>
          <p:nvPr/>
        </p:nvSpPr>
        <p:spPr>
          <a:xfrm>
            <a:off x="548640" y="29260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914400" y="29260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L–R Asymmetry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66928" y="3273552"/>
            <a:ext cx="170078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Differential atrophy across</a:t>
            </a:r>
            <a:endParaRPr lang="en-US" sz="9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hemispheres via z[7]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2560320" y="2834640"/>
            <a:ext cx="1920240" cy="1234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2651760" y="2926080"/>
            <a:ext cx="274320" cy="274320"/>
          </a:xfrm>
          <a:prstGeom prst="ellipse">
            <a:avLst/>
          </a:prstGeom>
          <a:solidFill>
            <a:srgbClr val="12828C"/>
          </a:solidFill>
          <a:ln/>
        </p:spPr>
      </p:sp>
      <p:sp>
        <p:nvSpPr>
          <p:cNvPr id="32" name="Text 30"/>
          <p:cNvSpPr/>
          <p:nvPr/>
        </p:nvSpPr>
        <p:spPr>
          <a:xfrm>
            <a:off x="2651760" y="29260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3017520" y="29260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Sulcal Widening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2670048" y="3273552"/>
            <a:ext cx="170078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Amplifies deformation at tissue</a:t>
            </a:r>
            <a:endParaRPr lang="en-US" sz="9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boundaries via z[8]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4663440" y="2834640"/>
            <a:ext cx="1920240" cy="1234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4754880" y="2926080"/>
            <a:ext cx="274320" cy="274320"/>
          </a:xfrm>
          <a:prstGeom prst="ellipse">
            <a:avLst/>
          </a:prstGeom>
          <a:solidFill>
            <a:srgbClr val="7EC8E3"/>
          </a:solidFill>
          <a:ln/>
        </p:spPr>
      </p:sp>
      <p:sp>
        <p:nvSpPr>
          <p:cNvPr id="37" name="Text 35"/>
          <p:cNvSpPr/>
          <p:nvPr/>
        </p:nvSpPr>
        <p:spPr>
          <a:xfrm>
            <a:off x="4754880" y="29260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5120640" y="29260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Longitudinal Fissure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4773168" y="3273552"/>
            <a:ext cx="170078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z_fissure (8³) wiggles the</a:t>
            </a:r>
            <a:endParaRPr lang="en-US" sz="9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midline CSF gap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6766560" y="2834640"/>
            <a:ext cx="1920240" cy="1234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6858000" y="2926080"/>
            <a:ext cx="274320" cy="274320"/>
          </a:xfrm>
          <a:prstGeom prst="ellipse">
            <a:avLst/>
          </a:prstGeom>
          <a:solidFill>
            <a:srgbClr val="C44569"/>
          </a:solidFill>
          <a:ln/>
        </p:spPr>
      </p:sp>
      <p:sp>
        <p:nvSpPr>
          <p:cNvPr id="42" name="Text 40"/>
          <p:cNvSpPr/>
          <p:nvPr/>
        </p:nvSpPr>
        <p:spPr>
          <a:xfrm>
            <a:off x="6858000" y="29260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7223760" y="29260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WM Lesion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6876288" y="3273552"/>
            <a:ext cx="170078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sphere placed at</a:t>
            </a:r>
            <a:endParaRPr lang="en-US" sz="9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 z[2:5] within WM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457200" y="4160520"/>
            <a:ext cx="8229600" cy="59436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46" name="Text 44"/>
          <p:cNvSpPr/>
          <p:nvPr/>
        </p:nvSpPr>
        <p:spPr>
          <a:xfrm>
            <a:off x="731520" y="4160520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 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4-class tissue map  (Background, CSF, WM, GM)  +  Lesion mask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9144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Stage 2: Modality Rendering  (View-Specific)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9601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23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render_modality(tissue_map, lesion_mask, z_style, modality)  →  3D volume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481328"/>
            <a:ext cx="292608" cy="292608"/>
          </a:xfrm>
          <a:prstGeom prst="ellipse">
            <a:avLst/>
          </a:prstGeom>
          <a:solidFill>
            <a:srgbClr val="A23B72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48132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005840" y="14630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Tissue Look-Up Table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834640" y="141732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Maps tissue class → base intensity.</a:t>
            </a:r>
            <a:endParaRPr lang="en-US" sz="9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T1: WM bright, GM mid, CSF dark.</a:t>
            </a:r>
            <a:endParaRPr lang="en-US" sz="9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FLAIR: GM bright, WM mid, CSF dark.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48640" y="1956816"/>
            <a:ext cx="484632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48640" y="2057400"/>
            <a:ext cx="292608" cy="292608"/>
          </a:xfrm>
          <a:prstGeom prst="ellipse">
            <a:avLst/>
          </a:prstGeom>
          <a:solidFill>
            <a:srgbClr val="A23B72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205740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005840" y="203911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Style Modulation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834640" y="1993392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Gain (z_style[0]) scales intensities.</a:t>
            </a:r>
            <a:endParaRPr lang="en-US" sz="9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Bias (z_style[1]) shifts intensities.</a:t>
            </a:r>
            <a:endParaRPr lang="en-US" sz="9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Per-view contrast variation.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548640" y="2532888"/>
            <a:ext cx="484632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48640" y="2633472"/>
            <a:ext cx="292608" cy="292608"/>
          </a:xfrm>
          <a:prstGeom prst="ellipse">
            <a:avLst/>
          </a:prstGeom>
          <a:solidFill>
            <a:srgbClr val="A23B72"/>
          </a:solidFill>
          <a:ln/>
        </p:spPr>
      </p:sp>
      <p:sp>
        <p:nvSpPr>
          <p:cNvPr id="16" name="Text 14"/>
          <p:cNvSpPr/>
          <p:nvPr/>
        </p:nvSpPr>
        <p:spPr>
          <a:xfrm>
            <a:off x="548640" y="263347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005840" y="2615184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Lesion Overlay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2834640" y="2569464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Inserts lesion with modality-specific</a:t>
            </a:r>
            <a:endParaRPr lang="en-US" sz="9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intensity (T1: 0.4, FLAIR: 1.0).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548640" y="3108960"/>
            <a:ext cx="484632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48640" y="3209544"/>
            <a:ext cx="292608" cy="292608"/>
          </a:xfrm>
          <a:prstGeom prst="ellipse">
            <a:avLst/>
          </a:prstGeom>
          <a:solidFill>
            <a:srgbClr val="A23B72"/>
          </a:solidFill>
          <a:ln/>
        </p:spPr>
      </p:sp>
      <p:sp>
        <p:nvSpPr>
          <p:cNvPr id="21" name="Text 19"/>
          <p:cNvSpPr/>
          <p:nvPr/>
        </p:nvSpPr>
        <p:spPr>
          <a:xfrm>
            <a:off x="548640" y="320954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005840" y="3191256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Bias Field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2834640" y="3145536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Low-frequency multiplicative</a:t>
            </a:r>
            <a:endParaRPr lang="en-US" sz="9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inhomogeneity (seeded noise at</a:t>
            </a:r>
            <a:endParaRPr lang="en-US" sz="9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4, trilinear upsampled).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548640" y="3685032"/>
            <a:ext cx="484632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48640" y="3785616"/>
            <a:ext cx="292608" cy="292608"/>
          </a:xfrm>
          <a:prstGeom prst="ellipse">
            <a:avLst/>
          </a:prstGeom>
          <a:solidFill>
            <a:srgbClr val="A23B72"/>
          </a:solidFill>
          <a:ln/>
        </p:spPr>
      </p:sp>
      <p:sp>
        <p:nvSpPr>
          <p:cNvPr id="26" name="Text 24"/>
          <p:cNvSpPr/>
          <p:nvPr/>
        </p:nvSpPr>
        <p:spPr>
          <a:xfrm>
            <a:off x="548640" y="378561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1005840" y="376732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Rician Noise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2834640" y="3721608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 Gaussian noise → magnitude.</a:t>
            </a:r>
            <a:endParaRPr lang="en-US" sz="9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σ = 0.01 + |z_style[2]| × 0.05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548640" y="4261104"/>
            <a:ext cx="484632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48640" y="4361688"/>
            <a:ext cx="292608" cy="292608"/>
          </a:xfrm>
          <a:prstGeom prst="ellipse">
            <a:avLst/>
          </a:prstGeom>
          <a:solidFill>
            <a:srgbClr val="A23B72"/>
          </a:solidFill>
          <a:ln/>
        </p:spPr>
      </p:sp>
      <p:sp>
        <p:nvSpPr>
          <p:cNvPr id="31" name="Text 29"/>
          <p:cNvSpPr/>
          <p:nvPr/>
        </p:nvSpPr>
        <p:spPr>
          <a:xfrm>
            <a:off x="548640" y="436168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1005840" y="43434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Smoothing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2834640" y="429768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3×3×3 average pooling.</a:t>
            </a:r>
            <a:endParaRPr lang="en-US" sz="9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Simulates partial volume effects.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5760720" y="1417320"/>
            <a:ext cx="3017520" cy="3291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5943600" y="150876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Tissue Intensity LUTs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5943600" y="187452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T1-weighted</a:t>
            </a:r>
            <a:endParaRPr lang="en-US" sz="11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0" y="2148840"/>
          <a:ext cx="265176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1280160"/>
              </a:tblGrid>
              <a:tr h="2011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2D3748"/>
                          </a:solidFill>
                        </a:rPr>
                        <a:t>Tissue</a:t>
                      </a:r>
                      <a:endParaRPr lang="en-US" sz="9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2D3748"/>
                          </a:solidFill>
                        </a:rPr>
                        <a:t>Intensity</a:t>
                      </a:r>
                      <a:endParaRPr lang="en-US" sz="9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Background</a:t>
                      </a:r>
                      <a:endParaRPr lang="en-US" sz="9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0.0</a:t>
                      </a:r>
                      <a:endParaRPr lang="en-US" sz="9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CSF</a:t>
                      </a:r>
                      <a:endParaRPr lang="en-US" sz="9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0.1</a:t>
                      </a:r>
                      <a:endParaRPr lang="en-US" sz="9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WM</a:t>
                      </a:r>
                      <a:endParaRPr lang="en-US" sz="9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2E86AB"/>
                          </a:solidFill>
                        </a:rPr>
                        <a:t>0.8</a:t>
                      </a:r>
                      <a:endParaRPr lang="en-US" sz="9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GM</a:t>
                      </a:r>
                      <a:endParaRPr lang="en-US" sz="9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0.5</a:t>
                      </a:r>
                      <a:endParaRPr lang="en-US" sz="9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38" name="Text 35"/>
          <p:cNvSpPr/>
          <p:nvPr/>
        </p:nvSpPr>
        <p:spPr>
          <a:xfrm>
            <a:off x="5943600" y="320040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23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FLAIR</a:t>
            </a:r>
            <a:endParaRPr lang="en-US" sz="1100" dirty="0"/>
          </a:p>
        </p:txBody>
      </p:sp>
      <p:graphicFrame>
        <p:nvGraphicFramePr>
          <p:cNvPr id="1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0" y="3474720"/>
          <a:ext cx="265176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1280160"/>
              </a:tblGrid>
              <a:tr h="2011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2D3748"/>
                          </a:solidFill>
                        </a:rPr>
                        <a:t>Tissue</a:t>
                      </a:r>
                      <a:endParaRPr lang="en-US" sz="9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2D3748"/>
                          </a:solidFill>
                        </a:rPr>
                        <a:t>Intensity</a:t>
                      </a:r>
                      <a:endParaRPr lang="en-US" sz="9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Background</a:t>
                      </a:r>
                      <a:endParaRPr lang="en-US" sz="9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0.0</a:t>
                      </a:r>
                      <a:endParaRPr lang="en-US" sz="9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CSF</a:t>
                      </a:r>
                      <a:endParaRPr lang="en-US" sz="9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0.1</a:t>
                      </a:r>
                      <a:endParaRPr lang="en-US" sz="9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WM</a:t>
                      </a:r>
                      <a:endParaRPr lang="en-US" sz="9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0.4</a:t>
                      </a:r>
                      <a:endParaRPr lang="en-US" sz="9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GM</a:t>
                      </a:r>
                      <a:endParaRPr lang="en-US" sz="9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A23B72"/>
                          </a:solidFill>
                        </a:rPr>
                        <a:t>0.8</a:t>
                      </a:r>
                      <a:endParaRPr lang="en-US" sz="9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9144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Hierarchical Content  (Optional Mode)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global atrophy scalar drives correlated regional content dimensions,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simulating Alzheimer’s disease-like correlated atrophy patterns.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645920"/>
            <a:ext cx="8229600" cy="50292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6459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E86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z_content[i]  =  coupling[i] × z_global  +  0.6 × residual[i]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23774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Coupled Dimensions</a:t>
            </a:r>
            <a:endParaRPr lang="en-US" sz="14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697480"/>
          <a:ext cx="502920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822960"/>
                <a:gridCol w="2194560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Dimension</a:t>
                      </a:r>
                      <a:endParaRPr lang="en-US" sz="1100" dirty="0"/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Weight</a:t>
                      </a:r>
                      <a:endParaRPr lang="en-US" sz="1100" dirty="0"/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Effect of ↑ global atrophy</a:t>
                      </a:r>
                      <a:endParaRPr lang="en-US" sz="1100" dirty="0"/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</a:rPr>
                        <a:t>Brain size (z[0])</a:t>
                      </a:r>
                      <a:endParaRPr lang="en-US" sz="1100" dirty="0"/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E86AB"/>
                          </a:solidFill>
                        </a:rPr>
                        <a:t>−1.0</a:t>
                      </a:r>
                      <a:endParaRPr lang="en-US" sz="1200" dirty="0"/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</a:rPr>
                        <a:t>Smaller brain</a:t>
                      </a:r>
                      <a:endParaRPr lang="en-US" sz="1100" dirty="0"/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</a:rPr>
                        <a:t>Ventricle size (z[1])</a:t>
                      </a:r>
                      <a:endParaRPr lang="en-US" sz="1100" dirty="0"/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E86AB"/>
                          </a:solidFill>
                        </a:rPr>
                        <a:t>−0.8</a:t>
                      </a:r>
                      <a:endParaRPr lang="en-US" sz="1200" dirty="0"/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</a:rPr>
                        <a:t>Larger ventricles</a:t>
                      </a:r>
                      <a:endParaRPr lang="en-US" sz="1100" dirty="0"/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</a:rPr>
                        <a:t>Cortical thickness (z[5])</a:t>
                      </a:r>
                      <a:endParaRPr lang="en-US" sz="1100" dirty="0"/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E86AB"/>
                          </a:solidFill>
                        </a:rPr>
                        <a:t>−0.9</a:t>
                      </a:r>
                      <a:endParaRPr lang="en-US" sz="1200" dirty="0"/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</a:rPr>
                        <a:t>Thinner cortex</a:t>
                      </a:r>
                      <a:endParaRPr lang="en-US" sz="1100" dirty="0"/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</a:rPr>
                        <a:t>Temporal atrophy (z[6])</a:t>
                      </a:r>
                      <a:endParaRPr lang="en-US" sz="1100" dirty="0"/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A23B72"/>
                          </a:solidFill>
                        </a:rPr>
                        <a:t>+1.5</a:t>
                      </a:r>
                      <a:endParaRPr lang="en-US" sz="1200" dirty="0"/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</a:rPr>
                        <a:t>More atrophy (AD-like)</a:t>
                      </a:r>
                      <a:endParaRPr lang="en-US" sz="1100" dirty="0"/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</a:rPr>
                        <a:t>Sulcal widening (z[8])</a:t>
                      </a:r>
                      <a:endParaRPr lang="en-US" sz="1100" dirty="0"/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A23B72"/>
                          </a:solidFill>
                        </a:rPr>
                        <a:t>+0.7</a:t>
                      </a:r>
                      <a:endParaRPr lang="en-US" sz="1200" dirty="0"/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</a:rPr>
                        <a:t>Wider sulci</a:t>
                      </a:r>
                      <a:endParaRPr lang="en-US" sz="1100" dirty="0"/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5943600" y="2377440"/>
            <a:ext cx="2743200" cy="2194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5943600" y="2377440"/>
            <a:ext cx="2743200" cy="365760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11" name="Text 8"/>
          <p:cNvSpPr/>
          <p:nvPr/>
        </p:nvSpPr>
        <p:spPr>
          <a:xfrm>
            <a:off x="6126480" y="2404872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 Dimensions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6126480" y="288036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Lesion position  (z[2:5])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L–R asymmetry  (z[7])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6126480" y="347472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dimensions vary freely,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 of the global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atrophy factor.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9144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Full Generation Pipeline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1097280"/>
            <a:ext cx="1828800" cy="640080"/>
          </a:xfrm>
          <a:prstGeom prst="rect">
            <a:avLst/>
          </a:prstGeom>
          <a:solidFill>
            <a:srgbClr val="12828C"/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109728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z_content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(9 dims)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423160" y="1097280"/>
            <a:ext cx="1828800" cy="640080"/>
          </a:xfrm>
          <a:prstGeom prst="rect">
            <a:avLst/>
          </a:prstGeom>
          <a:solidFill>
            <a:srgbClr val="12828C"/>
          </a:solidFill>
          <a:ln/>
        </p:spPr>
      </p:sp>
      <p:sp>
        <p:nvSpPr>
          <p:cNvPr id="7" name="Text 5"/>
          <p:cNvSpPr/>
          <p:nvPr/>
        </p:nvSpPr>
        <p:spPr>
          <a:xfrm>
            <a:off x="2423160" y="109728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z_deformation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(4³ grid)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480560" y="1097280"/>
            <a:ext cx="1828800" cy="640080"/>
          </a:xfrm>
          <a:prstGeom prst="rect">
            <a:avLst/>
          </a:prstGeom>
          <a:solidFill>
            <a:srgbClr val="12828C"/>
          </a:solidFill>
          <a:ln/>
        </p:spPr>
      </p:sp>
      <p:sp>
        <p:nvSpPr>
          <p:cNvPr id="9" name="Text 7"/>
          <p:cNvSpPr/>
          <p:nvPr/>
        </p:nvSpPr>
        <p:spPr>
          <a:xfrm>
            <a:off x="4480560" y="109728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z_fissure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(8³ grid)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65760" y="1783080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282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 (shared)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6858000" y="1097280"/>
            <a:ext cx="1005840" cy="640080"/>
          </a:xfrm>
          <a:prstGeom prst="rect">
            <a:avLst/>
          </a:prstGeom>
          <a:solidFill>
            <a:srgbClr val="A23B72"/>
          </a:solidFill>
          <a:ln/>
        </p:spPr>
      </p:sp>
      <p:sp>
        <p:nvSpPr>
          <p:cNvPr id="12" name="Text 10"/>
          <p:cNvSpPr/>
          <p:nvPr/>
        </p:nvSpPr>
        <p:spPr>
          <a:xfrm>
            <a:off x="6858000" y="1097280"/>
            <a:ext cx="1005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z_style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T1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8046720" y="1097280"/>
            <a:ext cx="1005840" cy="640080"/>
          </a:xfrm>
          <a:prstGeom prst="rect">
            <a:avLst/>
          </a:prstGeom>
          <a:solidFill>
            <a:srgbClr val="A23B72"/>
          </a:solidFill>
          <a:ln/>
        </p:spPr>
      </p:sp>
      <p:sp>
        <p:nvSpPr>
          <p:cNvPr id="14" name="Text 12"/>
          <p:cNvSpPr/>
          <p:nvPr/>
        </p:nvSpPr>
        <p:spPr>
          <a:xfrm>
            <a:off x="8046720" y="1097280"/>
            <a:ext cx="1005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z_style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FLAIR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858000" y="178308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A23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STYLE  (independent)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337560" y="2011680"/>
            <a:ext cx="0" cy="457200"/>
          </a:xfrm>
          <a:prstGeom prst="line">
            <a:avLst/>
          </a:prstGeom>
          <a:noFill/>
          <a:ln w="25400">
            <a:solidFill>
              <a:srgbClr val="12828C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1371600" y="2468880"/>
            <a:ext cx="3931920" cy="5486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18" name="Text 16"/>
          <p:cNvSpPr/>
          <p:nvPr/>
        </p:nvSpPr>
        <p:spPr>
          <a:xfrm>
            <a:off x="1371600" y="2468880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E86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render_structure( )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3337560" y="3017520"/>
            <a:ext cx="0" cy="365760"/>
          </a:xfrm>
          <a:prstGeom prst="line">
            <a:avLst/>
          </a:prstGeom>
          <a:noFill/>
          <a:ln w="25400">
            <a:solidFill>
              <a:srgbClr val="2D3748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1645920" y="3383280"/>
            <a:ext cx="3383280" cy="45720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1" name="Text 19"/>
          <p:cNvSpPr/>
          <p:nvPr/>
        </p:nvSpPr>
        <p:spPr>
          <a:xfrm>
            <a:off x="1645920" y="338328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tissue_map  +  lesion_mask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2743200" y="3840480"/>
            <a:ext cx="0" cy="457200"/>
          </a:xfrm>
          <a:prstGeom prst="line">
            <a:avLst/>
          </a:prstGeom>
          <a:noFill/>
          <a:ln w="19050">
            <a:solidFill>
              <a:srgbClr val="2D3748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6858000" y="3840480"/>
            <a:ext cx="0" cy="457200"/>
          </a:xfrm>
          <a:prstGeom prst="line">
            <a:avLst/>
          </a:prstGeom>
          <a:noFill/>
          <a:ln w="19050">
            <a:solidFill>
              <a:srgbClr val="2D3748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7360920" y="1737360"/>
            <a:ext cx="0" cy="2560320"/>
          </a:xfrm>
          <a:prstGeom prst="line">
            <a:avLst/>
          </a:prstGeom>
          <a:noFill/>
          <a:ln w="19050">
            <a:solidFill>
              <a:srgbClr val="A23B72"/>
            </a:solidFill>
            <a:prstDash val="dash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8549640" y="1737360"/>
            <a:ext cx="0" cy="2560320"/>
          </a:xfrm>
          <a:prstGeom prst="line">
            <a:avLst/>
          </a:prstGeom>
          <a:noFill/>
          <a:ln w="19050">
            <a:solidFill>
              <a:srgbClr val="A23B72"/>
            </a:solidFill>
            <a:prstDash val="dash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5029200" y="3840480"/>
            <a:ext cx="1828800" cy="0"/>
          </a:xfrm>
          <a:prstGeom prst="line">
            <a:avLst/>
          </a:prstGeom>
          <a:noFill/>
          <a:ln w="19050">
            <a:solidFill>
              <a:srgbClr val="2D3748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743200" y="3840480"/>
            <a:ext cx="594360" cy="0"/>
          </a:xfrm>
          <a:prstGeom prst="line">
            <a:avLst/>
          </a:prstGeom>
          <a:noFill/>
          <a:ln w="19050">
            <a:solidFill>
              <a:srgbClr val="2D374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097280" y="4297680"/>
            <a:ext cx="3291840" cy="50292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29" name="Text 27"/>
          <p:cNvSpPr/>
          <p:nvPr/>
        </p:nvSpPr>
        <p:spPr>
          <a:xfrm>
            <a:off x="1097280" y="429768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E86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render_modality(T1)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5212080" y="4297680"/>
            <a:ext cx="3291840" cy="50292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1" name="Text 29"/>
          <p:cNvSpPr/>
          <p:nvPr/>
        </p:nvSpPr>
        <p:spPr>
          <a:xfrm>
            <a:off x="5212080" y="429768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A23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render_modality(FLAIR)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2743200" y="4800600"/>
            <a:ext cx="0" cy="320040"/>
          </a:xfrm>
          <a:prstGeom prst="line">
            <a:avLst/>
          </a:prstGeom>
          <a:noFill/>
          <a:ln w="25400">
            <a:solidFill>
              <a:srgbClr val="2E86AB"/>
            </a:solidFill>
            <a:prstDash val="solid"/>
            <a:tailEnd type="triangle"/>
          </a:ln>
        </p:spPr>
      </p:sp>
      <p:sp>
        <p:nvSpPr>
          <p:cNvPr id="33" name="Shape 31"/>
          <p:cNvSpPr/>
          <p:nvPr/>
        </p:nvSpPr>
        <p:spPr>
          <a:xfrm>
            <a:off x="6858000" y="4800600"/>
            <a:ext cx="0" cy="320040"/>
          </a:xfrm>
          <a:prstGeom prst="line">
            <a:avLst/>
          </a:prstGeom>
          <a:noFill/>
          <a:ln w="25400">
            <a:solidFill>
              <a:srgbClr val="A23B72"/>
            </a:solidFill>
            <a:prstDash val="solid"/>
            <a:tailEnd type="triangle"/>
          </a:ln>
        </p:spPr>
      </p:sp>
      <p:sp>
        <p:nvSpPr>
          <p:cNvPr id="34" name="Shape 32"/>
          <p:cNvSpPr/>
          <p:nvPr/>
        </p:nvSpPr>
        <p:spPr>
          <a:xfrm>
            <a:off x="1097280" y="5120640"/>
            <a:ext cx="3291840" cy="457200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35" name="Text 33"/>
          <p:cNvSpPr/>
          <p:nvPr/>
        </p:nvSpPr>
        <p:spPr>
          <a:xfrm>
            <a:off x="1097280" y="512064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1:  T1 Volume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5212080" y="5120640"/>
            <a:ext cx="3291840" cy="457200"/>
          </a:xfrm>
          <a:prstGeom prst="rect">
            <a:avLst/>
          </a:prstGeom>
          <a:solidFill>
            <a:srgbClr val="A23B72"/>
          </a:solidFill>
          <a:ln/>
        </p:spPr>
      </p:sp>
      <p:sp>
        <p:nvSpPr>
          <p:cNvPr id="37" name="Text 35"/>
          <p:cNvSpPr/>
          <p:nvPr/>
        </p:nvSpPr>
        <p:spPr>
          <a:xfrm>
            <a:off x="5212080" y="512064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2:  FLAIR Volume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Synthetic 3D Brain MRI Generation for Disentanglement Validation</dc:title>
  <dc:subject>PptxGenJS Presentation</dc:subject>
  <dc:creator>Natalia Glazman</dc:creator>
  <cp:lastModifiedBy>Natalia Glazman</cp:lastModifiedBy>
  <cp:revision>1</cp:revision>
  <dcterms:created xsi:type="dcterms:W3CDTF">2026-05-21T11:47:33Z</dcterms:created>
  <dcterms:modified xsi:type="dcterms:W3CDTF">2026-05-21T11:47:33Z</dcterms:modified>
</cp:coreProperties>
</file>